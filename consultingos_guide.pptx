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IPAGothic"/>
              </a:rPr>
              <a:t>ConsultingOS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DFF"/>
                </a:solidFill>
                <a:latin typeface="IPAGothic"/>
              </a:rPr>
              <a:t>最高峰 AI Agent Company — 完全ガイド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949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PAGothic"/>
              </a:rPr>
              <a:t>Claude の各サービス概要 ✦ スキル・MD ✦ グローバルスキル ✦ エージェント ✦ 連動フロー ✦ 組織図 ✦ 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CC"/>
                </a:solidFill>
                <a:latin typeface="IPAGothic"/>
              </a:rPr>
              <a:t>35 Agents × 36 Skills × 11 Commands | ASI時代対応版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Claude サービス全体像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4つのプロダクト — それぞれの役割と違い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347472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IPAGothic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Claude.ai
チャット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IPAGothic"/>
              </a:rPr>
              <a:t>会話AI・文章生成・質問回答
エージェント起動は不可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25880"/>
            <a:ext cx="2743200" cy="347472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IPAGothic"/>
              </a:rPr>
              <a:t>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Claude
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17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IPAGothic"/>
              </a:rPr>
              <a:t>カスタム指示+ファイル添付
会話をプロジェクト単位で管理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274320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IPAGothic"/>
              </a:rP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Claude Code
(CLI/IDE)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17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IPAGothic"/>
              </a:rPr>
              <a:t>ファイル操作・コード実行
エージェント起動 ★本体★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IPAGothic"/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945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Claude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017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DEEFF"/>
                </a:solidFill>
                <a:latin typeface="IPAGothic"/>
              </a:rPr>
              <a:t>プログラムから直接呼び出し
アプリ・SaaS開発向け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★ ConsultingOS は Claude Code (CLI/IDE拡張) で動作する。Claude.ai Webはチャット補完のみ。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各サービスでできること vs できないこと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ConsultingOS の機能はClaude Code専用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52144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Claude.ai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2618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61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Claude Code★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261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PAGothic"/>
              </a:rPr>
              <a:t>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1152144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709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エージェント並列起動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099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7099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7099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7099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△API実装要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11521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2585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ファイル読み書き・実行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585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258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△添付のみ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2585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2585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61488"/>
            <a:ext cx="1152144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807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スキル・MD参照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807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807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△Custom Instr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8072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8072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10128"/>
            <a:ext cx="11521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355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ルーティング自動判定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355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△手動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355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△手動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355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355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58768"/>
            <a:ext cx="1152144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90448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ハンドオフ・品質ゲート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390448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390448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9044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9044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407408"/>
            <a:ext cx="11521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453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git・デプロイ操作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453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44531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453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4531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56048"/>
            <a:ext cx="1152144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5001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/ppt コマンド生成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5001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5001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50017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50017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027"/>
                </a:solidFill>
                <a:latin typeface="IPAGothic"/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504688"/>
            <a:ext cx="11521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5550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カスタム指示で疑似動作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5550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5550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5550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A85A"/>
                </a:solidFill>
                <a:latin typeface="IPAGothic"/>
              </a:rPr>
              <a:t>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5550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PAGothic"/>
              </a:rPr>
              <a:t>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スキル・MD ファイルとは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エージェントが参照する「専門知識ベース」— .md 形式で定義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41148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IPAGothic"/>
              </a:rPr>
              <a:t>スキルファイルの構造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▸  §セクション番号で構造化された知識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▸  フレームワーク・判断基準・テンプレートを収録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▸  エージェントが「いつ・どこを参照するか」を明記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8561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▸  全36スキル → コンサル/開発/マーケ/グローバル系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074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▸  反証モード（トリプルチェック）を全スキルに内蔵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5852160" cy="41148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3E"/>
                </a:solidFill>
                <a:latin typeface="IPAGothic"/>
              </a:rPr>
              <a:t>スキルの参照例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92024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FCC"/>
                </a:solidFill>
                <a:latin typeface="IPAGothic"/>
              </a:rPr>
              <a:t>consulting-playbook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65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→ strategy-lead / proposal-writer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468880"/>
            <a:ext cx="585216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514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FCC"/>
                </a:solidFill>
                <a:latin typeface="IPAGothic"/>
              </a:rPr>
              <a:t>humanizer-ja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514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→ content-strategist / brand-guardian必須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01752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063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FCC"/>
                </a:solidFill>
                <a:latin typeface="IPAGothic"/>
              </a:rPr>
              <a:t>deep-research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063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→ competitive-analyst / market-researcher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566160"/>
            <a:ext cx="585216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FCC"/>
                </a:solidFill>
                <a:latin typeface="IPAGothic"/>
              </a:rPr>
              <a:t>engineering-playbook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6118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→ tech-lead / fullstack-dev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11480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FCC"/>
                </a:solidFill>
                <a:latin typeface="IPAGothic"/>
              </a:rPr>
              <a:t>sales-playbook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→ lead-qualifier / strategy-lead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663440"/>
            <a:ext cx="585216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FCC"/>
                </a:solidFill>
                <a:latin typeface="IPAGothic"/>
              </a:rPr>
              <a:t>first-principles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709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→ 全26エージェント共通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★ スキルを読まずにエージェントを動かすのは禁止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グローバルスキル vs プロジェクトスキル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シンボリックリンクで全プロジェクトに自動同期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3840480"/>
          </a:xfrm>
          <a:prstGeom prst="rect">
            <a:avLst/>
          </a:prstGeom>
          <a:solidFill>
            <a:srgbClr val="E8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📁 プロジェクトスキル（実体）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/home/user/yorunokotoba/.claude/skills/
/home/user/yorunokotoba/.claude/agents/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5A"/>
                </a:solidFill>
                <a:latin typeface="IPAGothic"/>
              </a:rPr>
              <a:t>← 実ファイルが存在する場所
今回更新した全スキル・エージェントの本体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A"/>
                </a:solidFill>
                <a:latin typeface="IPAGothic"/>
              </a:rPr>
              <a:t>更新すると即座にグローバルへ反映される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5852160" cy="384048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🌐 グローバルスキル（シンボリックリンク）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~/.claude/skills/ → 実体へのリンク
~/.claude/agents/ → 実体へのリンク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743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5FCC"/>
                </a:solidFill>
                <a:latin typeface="IPAGothic"/>
              </a:rPr>
              <a:t>← どのディレクトリ・プロジェクトからでも
   Claude Codeを使えばConsultingOSが起動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FCC"/>
                </a:solidFill>
                <a:latin typeface="IPAGothic"/>
              </a:rPr>
              <a:t>別プロジェクトでも同じエージェントが使える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03520"/>
            <a:ext cx="11430000" cy="1828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🔗 lrwxrwxrwx ~/.claude/skills/consulting-playbook.md → /home/user/yorunokotoba/.claude/skills/consulting-playbook.md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エージェントとは何か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専門的な人格・知識・判断基準を持つ AI 担当者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15087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🧠 専門人格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キャリア経歴・核心的信念・思考習慣を.mdで定義。
例: competitive-analyst = BCG×Palantirキャリアの競合分析家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48640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5087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📚 知識ベース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参照スキルファイルが明示されており、
使うべきフレームワーク・出力形式が決まっている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548640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64008" cy="15087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⚖️ 判断原則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「何を出力すべきか・何を禁止するか」を
シナリオ別プレイブックで標準化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71800"/>
            <a:ext cx="548640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71800"/>
            <a:ext cx="64008" cy="15087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🤝 連携設計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他エージェントへのハンドオフ条件・
受け取り拒否基準（ERR-01〜06）が定義済み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17720"/>
            <a:ext cx="548640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617720"/>
            <a:ext cx="64008" cy="15087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🔺 反証モード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全アウトプットにトリプルチェック必須。
ドラフト扱いを防ぐ品質ゲート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617720"/>
            <a:ext cx="5486400" cy="1508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617720"/>
            <a:ext cx="64008" cy="15087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091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3E"/>
                </a:solidFill>
                <a:latin typeface="IPAGothic"/>
              </a:rPr>
              <a:t>🧬 ASI時代対応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Human Moat（AIが代替できない価値）を
各エージェントに明文化済み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エージェント連動フロー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並列実行・直列ハンドオフ・品質ゲートで品質を担保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50292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並列実行（最大3）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65760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独立したタスクを同時起動
例: 市場調査 + 競合分析 + 技術検証
→ 結果をorchestratorが統合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25880"/>
            <a:ext cx="3657600" cy="50292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直列ハンドオフ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5760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前の結果を次に引き継ぐ
例: competitive-analyst → strategy-lead
    → kpi-analytics → proposal-writer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3657600" cy="502920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IPAGothic"/>
              </a:rPr>
              <a:t>品質ゲート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3200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IPAGothic"/>
              </a:rPr>
              <a:t>受け取り拒否基準（ERR-01〜06）
ERR-01: 数値根拠なし
ERR-02: 反証未実施
ERR-03: 未検証情報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ハンドオフ標準フォーマット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PAGothic"/>
              </a:rPr>
              <a:t>【From】送り元  【To】送り先  【タスク】依頼内容1文  【インプット】データ・分析結果  【期待アウトプット】形式・期限  【制約】禁止事項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88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>
                <a:solidFill>
                  <a:srgbClr val="005FCC"/>
                </a:solidFill>
                <a:latin typeface="IPAGothic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IPAGothic"/>
              </a:rPr>
              <a:t>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120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IPAGothic"/>
              </a:rPr>
              <a:t>コンサル8 · 開発4 · プロダクト2 · クリエイティブ8 · グローバル4 · マーケティング8 · Orchestrator1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FF"/>
                </a:solidFill>
                <a:latin typeface="IPAGothic"/>
              </a:rPr>
              <a:t>36 Skills · 11 Commands · ASI時代対応完了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5FCC"/>
                </a:solidFill>
                <a:latin typeface="IPAGothic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IPAGothic"/>
              </a:rPr>
              <a:t>エージェント組織図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FF"/>
                </a:solidFill>
                <a:latin typeface="IPAGothic"/>
              </a:rPr>
              <a:t>6部門 35エージェント — 誰が何を担い・誰をモデルにしているか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389120"/>
            <a:ext cx="1783080" cy="594360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4165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🔴 コンサル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389120"/>
            <a:ext cx="178308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4165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🟠 開発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389120"/>
            <a:ext cx="1783080" cy="59436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4165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🟢 プロダクト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389120"/>
            <a:ext cx="178308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4165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🟣 クリエイティブ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389120"/>
            <a:ext cx="1783080" cy="59436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4165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🔵 グローバル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4389120"/>
            <a:ext cx="1783080" cy="59436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44165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PAGothic"/>
              </a:rPr>
              <a:t>🟡 マーケ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🔴 コンサルティング部門（8エージェント）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戦略・分析・商談・KPI・AI導入・法務をカバー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strategy-lead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全体戦略・事業計画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Thiel × Bezos × Jordan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competitive-analyst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競合調査・ポジショニング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BCG Strategy × Palantir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606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kpi-analytics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0632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KPIツリー・PL試算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355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McKinsey Analytics流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56032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6032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606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proposal-writer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632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提案書・ピッチデック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55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Steve Jobs スタイル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9476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9476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lead-qualifier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リード精査・商談設計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90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MEDDPICC設計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9476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ai-consultant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AI導入戦略・ROI試算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590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BCG X × Anthropic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02920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074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client-success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顧客成功・LTV最大化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824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Gainsight×CS哲学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029200"/>
            <a:ext cx="5669280" cy="111556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029200"/>
            <a:ext cx="54864" cy="11155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5074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027"/>
                </a:solidFill>
                <a:latin typeface="IPAGothic"/>
              </a:rPr>
              <a:t>legal-compliance-checker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532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役割: 法務・コンプラ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824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IPAGothic"/>
              </a:rPr>
              <a:t>参考: EU AI Act対応済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🟠 サービス開発（4）  +  🟢 プロダクト（2）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実装・AI統合・インフラ・PM・フィードバック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4864" cy="411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IPAGothic"/>
              </a:rPr>
              <a:t>Service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486400" cy="987552"/>
          </a:xfrm>
          <a:prstGeom prst="rect">
            <a:avLst/>
          </a:prstGeom>
          <a:solidFill>
            <a:srgbClr val="FF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PAGothic"/>
              </a:rPr>
              <a:t>tech-lead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技術選定・設計統括  |  Wozniak × Bell 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16352"/>
            <a:ext cx="5486400" cy="987552"/>
          </a:xfrm>
          <a:prstGeom prst="rect">
            <a:avLst/>
          </a:prstGeom>
          <a:solidFill>
            <a:srgbClr val="FF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62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PAGothic"/>
              </a:rPr>
              <a:t>fullstack-dev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192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Next.js/FastAPI/DB  |  AIDD原則適用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95344"/>
            <a:ext cx="5486400" cy="987552"/>
          </a:xfrm>
          <a:prstGeom prst="rect">
            <a:avLst/>
          </a:prstGeom>
          <a:solidFill>
            <a:srgbClr val="FF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41063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PAGothic"/>
              </a:rPr>
              <a:t>ai-engineer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982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Claude API・RAG・Agent  |  Dario Amodei流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74336"/>
            <a:ext cx="5486400" cy="987552"/>
          </a:xfrm>
          <a:prstGeom prst="rect">
            <a:avLst/>
          </a:prstGeom>
          <a:solidFill>
            <a:srgbClr val="FF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02005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IPAGothic"/>
              </a:rPr>
              <a:t>infra-devops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47725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Docker・CI/CD・監視  |  SRE×ゼロダウンタイム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61872"/>
            <a:ext cx="54864" cy="41148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5A"/>
                </a:solidFill>
                <a:latin typeface="IPAGothic"/>
              </a:rPr>
              <a:t>Product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37360"/>
            <a:ext cx="5486400" cy="987552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A"/>
                </a:solidFill>
                <a:latin typeface="IPAGothic"/>
              </a:rPr>
              <a:t>product-manager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PMF・ロードマップ  |  Bezos × Randolph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816352"/>
            <a:ext cx="5486400" cy="987552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862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A"/>
                </a:solidFill>
                <a:latin typeface="IPAGothic"/>
              </a:rPr>
              <a:t>feedback-synthesizer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3192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VOC分析・インサイト  |  Intercom流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🟣 クリエイティブ部門（8エージェント）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デザイン・コンテンツ・グロース・ブランド・AIO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creative-director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方針・ブリーフ・ツール選定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67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Jobs × Hatfield × Vaccaro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ux-designer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UXフロー・LP設計・Figma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Trust UX設計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24328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624328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frontend-dev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1272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Figma→HTML・コンポーネント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4655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AIDD実装原則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24328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624328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content-strategist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1272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ブログ・LP・SNS文章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655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Ted Sarandos流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22776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922776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9684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campaign-planner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425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施策設計・KPI管理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764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Trust Campaigning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922776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922776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684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brand-guardian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4256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トーン統一・品質ゲート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64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Phil Knight × Apple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221224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221224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2669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agentic-content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5724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AIO・構造化・AI引用設計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6062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Schema.org最前線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221224"/>
            <a:ext cx="5669280" cy="1170432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221224"/>
            <a:ext cx="54864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52669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IPAGothic"/>
              </a:rPr>
              <a:t>growth-hacker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724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役割: A/Bテスト・バイラル設計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6062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参考: Sean Parker × 佐藤裕介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🔵 グローバル（4）  +  🟡 マーケティング（8）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海外展開・翻訳・広告・SEO・CRM・PR・SNS・リサーチ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4864" cy="438912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CC"/>
                </a:solidFill>
                <a:latin typeface="IPAGothic"/>
              </a:rPr>
              <a:t>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19072"/>
            <a:ext cx="4023360" cy="960120"/>
          </a:xfrm>
          <a:prstGeom prst="rect">
            <a:avLst/>
          </a:prstGeom>
          <a:solidFill>
            <a:srgbClr val="E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CC"/>
                </a:solidFill>
                <a:latin typeface="IPAGothic"/>
              </a:rPr>
              <a:t>gtm-consultant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762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GTM・海外参入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Grab×APACモデル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70632"/>
            <a:ext cx="4023360" cy="960120"/>
          </a:xfrm>
          <a:prstGeom prst="rect">
            <a:avLst/>
          </a:prstGeom>
          <a:solidFill>
            <a:srgbClr val="E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1635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CC"/>
                </a:solidFill>
                <a:latin typeface="IPAGothic"/>
              </a:rPr>
              <a:t>global-journalist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278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海外ニュース・規制調査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83863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情報グレードA-D評価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22191"/>
            <a:ext cx="4023360" cy="960120"/>
          </a:xfrm>
          <a:prstGeom prst="rect">
            <a:avLst/>
          </a:prstGeom>
          <a:solidFill>
            <a:srgbClr val="E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6791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CC"/>
                </a:solidFill>
                <a:latin typeface="IPAGothic"/>
              </a:rPr>
              <a:t>global-business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793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海外オペレーション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3542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Recruit×Grab流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73752"/>
            <a:ext cx="4023360" cy="960120"/>
          </a:xfrm>
          <a:prstGeom prst="rect">
            <a:avLst/>
          </a:prstGeom>
          <a:solidFill>
            <a:srgbClr val="E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194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CC"/>
                </a:solidFill>
                <a:latin typeface="IPAGothic"/>
              </a:rPr>
              <a:t>business-translator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3309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多言語翻訳・ローカライズ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58698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IPAGothic"/>
              </a:rPr>
              <a:t>humanizer-ja必須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261872"/>
            <a:ext cx="54864" cy="438912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12801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9900"/>
                </a:solidFill>
                <a:latin typeface="IPAGothic"/>
              </a:rPr>
              <a:t>Marketing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719072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17647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marketing-director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統括・チャネルミックス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4323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P&amp;G × AWS × Adobe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719072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647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performance-marketer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広告運用・ROAS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323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DoubleClick×TTD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770632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28163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seo-specialist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テクニカルSEO・AIO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348386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E-E-A-T設計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770632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8163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marketing-analyst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227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GA4・アトリビューション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48386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CDP統合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822191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79" y="38679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crm-ma-strategist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CRM・MA・ナーチャリング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45354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Segment×Klaviyo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822191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8679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social-media-strategist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SNS・コミュニティ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5354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Community-first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4873752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79" y="49194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market-researcher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79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消費者調査・ペルソナ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79" y="55869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定量×定性統合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873752"/>
            <a:ext cx="3429000" cy="960120"/>
          </a:xfrm>
          <a:prstGeom prst="rect">
            <a:avLst/>
          </a:prstGeom>
          <a:solidFill>
            <a:srgbClr val="FF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49194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9900"/>
                </a:solidFill>
                <a:latin typeface="IPAGothic"/>
              </a:rPr>
              <a:t>pr-communications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PAGothic"/>
              </a:rPr>
              <a:t>PR・メディア・危機管理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5869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IPAGothic"/>
              </a:rPr>
              <a:t>信頼関係設計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IPAGothic"/>
              </a:rPr>
              <a:t>⚫ Orchestrator — 司令塔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4124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DFF"/>
                </a:solidFill>
                <a:latin typeface="IPAGothic"/>
              </a:rPr>
              <a:t>3部門以上にまたがる複合タスクの起点 | Reed Hastings × 佐藤裕介をモデルに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0" cy="868680"/>
          </a:xfrm>
          <a:prstGeom prst="rect">
            <a:avLst/>
          </a:prstGeom>
          <a:solidFill>
            <a:srgbClr val="12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8686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721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FCC"/>
                </a:solidFill>
                <a:latin typeface="IPAGothic"/>
              </a:rPr>
              <a:t>タスク分解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72184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PAGothic"/>
              </a:rPr>
              <a:t>複合依頼を部門別に分解し、並列/直列フローを設計する（並列上限3）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0972800" cy="868680"/>
          </a:xfrm>
          <a:prstGeom prst="rect">
            <a:avLst/>
          </a:prstGeom>
          <a:solidFill>
            <a:srgbClr val="12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4864" cy="8686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323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FCC"/>
                </a:solidFill>
                <a:latin typeface="IPAGothic"/>
              </a:rPr>
              <a:t>エージェント配備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32304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PAGothic"/>
              </a:rPr>
              <a:t>起点エージェントを選定しハンドオフを構造化して配備する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0972800" cy="868680"/>
          </a:xfrm>
          <a:prstGeom prst="rect">
            <a:avLst/>
          </a:prstGeom>
          <a:solidFill>
            <a:srgbClr val="12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54864" cy="8686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FCC"/>
                </a:solidFill>
                <a:latin typeface="IPAGothic"/>
              </a:rPr>
              <a:t>20%乖離調停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92424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PAGothic"/>
              </a:rPr>
              <a:t>並列エージェントの数値が20%以上乖離した場合に調停・統合する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0972800" cy="868680"/>
          </a:xfrm>
          <a:prstGeom prst="rect">
            <a:avLst/>
          </a:prstGeom>
          <a:solidFill>
            <a:srgbClr val="12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54864" cy="8686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52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FCC"/>
                </a:solidFill>
                <a:latin typeface="IPAGothic"/>
              </a:rPr>
              <a:t>品質ゲート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52544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PAGothic"/>
              </a:rPr>
              <a:t>各フェーズ完了時に数値・反証を確認。人間の承認なしに次フェーズへ進まない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0972800" cy="868680"/>
          </a:xfrm>
          <a:prstGeom prst="rect">
            <a:avLst/>
          </a:prstGeom>
          <a:solidFill>
            <a:srgbClr val="12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4864" cy="8686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12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FCC"/>
                </a:solidFill>
                <a:latin typeface="IPAGothic"/>
              </a:rPr>
              <a:t>Human Conscience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312664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PAGothic"/>
              </a:rPr>
              <a:t>ASI時代: 「問いを立て・判断し・責任を取る」Human層を守る最後の砦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CC"/>
                </a:solidFill>
                <a:latin typeface="IPAGothic"/>
              </a:rPr>
              <a:t>Keeper Test (Hastings): 「明日辞めると言ったら全力で引き留めるか」で配備するエージェントを判断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IPAGothic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IPAGothic"/>
              </a:rPr>
              <a:t>36スキルの体系と強み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DDFF"/>
                </a:solidFill>
                <a:latin typeface="IPAGothic"/>
              </a:rPr>
              <a:t>どのスキルを · いつ · どのエージェントが使うか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36スキル — カテゴリ別一覧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全エージェントが参照する共通ナレッジベース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23317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657600" cy="411480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戦略・コンサル系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consulting-playbook
sales-playbook
revenue-growth-framework
first-principles-breakdown
compliance-playbook
unit-economics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657600" cy="23317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6576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開発・技術系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755648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engineering-playbook
api-design-patterns
code-quality-gates
migration-safety
debug-methodology
superpowers / verification-loop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23317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クリエイティブ系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55648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creative-playbook
brand-guidelines
humanizer-ja
ppt-presentation
frontend-design
frontend-quality-guard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657600" cy="23317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657600" cy="4114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947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マーケ・グローバル系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24527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marketing-research-playbook
digital-sales-intelligence
global-expansion-playbook
product-management-playbook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657600" cy="23317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6576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7947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AI・システム運用系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224527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ai-native-company
prompt-engineering
claude-code-ops
claude-subconscious
claude-health / security-scan
strategic-compact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657600" cy="23317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657600" cy="41148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7947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リサーチ・調査系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24527"/>
            <a:ext cx="3474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PAGothic"/>
              </a:rPr>
              <a:t>deep-research
planning-with-files
browser-automation
playwright-skill
incident-response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ASI時代対応 — ConsultingOSの6つの強み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全エージェント・全スキルに Human Moat 設計を統合済み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669280" cy="15727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64008" cy="157276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Human Moat 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全35エージェントに「AIが代替する機能 vs 人間が担い続ける機能」を明文化。代替可能性スコアで可視化。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669280" cy="15727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572768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Trust Premium 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製品価値 + 信頼プレミアム = WTP の等式を全出力に組み込み。ブランドは「信念の宣言」として再定義。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5669280" cy="15727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64008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ASI時代KPI体系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Trust KPI・Human Moat KPI・代替可能性スコアを標準KPIツリーに追加。AGI後の事業価値を可視化。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669280" cy="15727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64008" cy="1572768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AI購買エージェント対応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118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B2B購買のAI化（2027年以降）を想定。Schema.org・API・セルフサービス設計が全提案に組み込まれる。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09160"/>
            <a:ext cx="5669280" cy="15727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709160"/>
            <a:ext cx="64008" cy="15727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Data Compounding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1stPartyデータ複利設計をCookieレス×AGI時代の前提として全マーケ・CRM戦略に組み込み済み。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09160"/>
            <a:ext cx="5669280" cy="15727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09160"/>
            <a:ext cx="64008" cy="1572768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3E"/>
                </a:solidFill>
                <a:latin typeface="IPAGothic"/>
              </a:rPr>
              <a:t>レジェンド知見統合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035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IPAGothic"/>
              </a:rPr>
              <a:t>Thiel/Bezos/Jobs/Knight/Hastings/Parker/Amodei/Wozniak の思考フレームをエージェント判断軸に内蔵。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64992"/>
            <a:ext cx="12188952" cy="54864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5FCC"/>
                </a:solidFill>
                <a:latin typeface="IPAGothic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IPAGothic"/>
              </a:rPr>
              <a:t>起動方法・使い方・注意点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93008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FF"/>
                </a:solidFill>
                <a:latin typeface="IPAGothic"/>
              </a:rPr>
              <a:t>最高峰チームを使いこなすための実践ガイド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起動方法 — 30秒ルーティング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キーワードを入れるだけで最適エージェントが自動起動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48640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キーワード・起動トリガー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61872"/>
            <a:ext cx="5852160" cy="41148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PAGothic"/>
              </a:rPr>
              <a:t>起動エージェント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486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282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「競合を調べたい」「差別化は？」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91640"/>
            <a:ext cx="5852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72821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competitive-analyst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12264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48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「戦略を考えたい」「Go/No-Go判断」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112264"/>
            <a:ext cx="5852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1488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strategy-lead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32888"/>
            <a:ext cx="5486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5694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「数字・KPI・PL試算したい」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532888"/>
            <a:ext cx="5852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25694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kpi-analytics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53512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9900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「コード書きたい」「バグ修正」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953512"/>
            <a:ext cx="5852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29900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fullstack-dev（tech-leadが設計レビュー）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74136"/>
            <a:ext cx="5486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410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「LP/UI作りたい」「デザイン・Figma」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374136"/>
            <a:ext cx="5852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34107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creative-director → ux-designer → frontend-dev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94760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8313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「広告を出したい」「ROAS改善」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794760"/>
            <a:ext cx="5852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3328" y="383133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marketing-director → performance-marketer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15384"/>
            <a:ext cx="5486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251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「海外展開したい」「GTM」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215384"/>
            <a:ext cx="5852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8" y="42519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gtm-consultant + global-journalist（並列）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636008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672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「全体を俯瞰したい」「複数部門またがる」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636008"/>
            <a:ext cx="5852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53328" y="46725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orchestrator（Phase管理付き）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056632"/>
            <a:ext cx="5486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5093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「PPT・スライドを作りたい」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056632"/>
            <a:ext cx="5852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8" y="5093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/ppt コマンド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77256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5513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「法務チェック」「契約・コンプラ」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5477256"/>
            <a:ext cx="5852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53328" y="55138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legal-compliance-checker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897880"/>
            <a:ext cx="548640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59344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「AIコンテンツ」「AIO対策」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5897880"/>
            <a:ext cx="5852160" cy="402336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53328" y="59344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agentic-content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318504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6355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B3E"/>
                </a:solidFill>
                <a:latin typeface="IPAGothic"/>
              </a:rPr>
              <a:t>「コンテンツ・ブログ・文章」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6318504"/>
            <a:ext cx="5852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6355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FCC"/>
                </a:solidFill>
                <a:latin typeface="IPAGothic"/>
              </a:rPr>
              <a:t>→ content-strategist（humanizer-ja自動適用）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3E"/>
                </a:solidFill>
                <a:latin typeface="IPAGothic"/>
              </a:rPr>
              <a:t>注意点 &amp; ベストプラクティス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IPAGothic"/>
              </a:rPr>
              <a:t>ConsultingOS を最高に使いこなすための Do /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4864" cy="493776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5A"/>
                </a:solidFill>
                <a:latin typeface="IPAGothic"/>
              </a:rPr>
              <a:t>✅ 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669280" cy="822960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9222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33"/>
                </a:solidFill>
                <a:latin typeface="IPAGothic"/>
              </a:rPr>
              <a:t>✅ 反証モード必須 — 自己・構造・実用の3ステップ。省略はドラフト扱い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33472"/>
            <a:ext cx="5669280" cy="822960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8833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33"/>
                </a:solidFill>
                <a:latin typeface="IPAGothic"/>
              </a:rPr>
              <a:t>✅ 数値根拠必須 — 「大幅改善」禁止。30%改善・粗利XX万円で記載する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9584"/>
            <a:ext cx="5669280" cy="822960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5844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33"/>
                </a:solidFill>
                <a:latin typeface="IPAGothic"/>
              </a:rPr>
              <a:t>✅ 並列上限3エージェント — orchestratorのレートリミット死亡を防ぐ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425696"/>
            <a:ext cx="5669280" cy="822960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480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33"/>
                </a:solidFill>
                <a:latin typeface="IPAGothic"/>
              </a:rPr>
              <a:t>✅ humanizer-ja適用 — 日本語コンテンツ全成果物にAI臭除去を実行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321808"/>
            <a:ext cx="5669280" cy="822960"/>
          </a:xfrm>
          <a:prstGeom prst="rect">
            <a:avLst/>
          </a:prstGeom>
          <a:solidFill>
            <a:srgbClr val="EA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37667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33"/>
                </a:solidFill>
                <a:latin typeface="IPAGothic"/>
              </a:rPr>
              <a:t>✅ deep-research: 15-30ソース — competitive-analyst/market-researcherは深掘り必須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61872"/>
            <a:ext cx="54864" cy="4937760"/>
          </a:xfrm>
          <a:prstGeom prst="rect">
            <a:avLst/>
          </a:prstGeom>
          <a:solidFill>
            <a:srgbClr val="E6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027"/>
                </a:solidFill>
                <a:latin typeface="IPAGothic"/>
              </a:rPr>
              <a:t>⚠️  Don't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557784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92224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2200"/>
                </a:solidFill>
                <a:latin typeface="IPAGothic"/>
              </a:rPr>
              <a:t>⚠️ 抽象論・PLに落ちない提案 — 出力禁止。数値で語れない提案はしない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33472"/>
            <a:ext cx="557784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688336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2200"/>
                </a:solidFill>
                <a:latin typeface="IPAGothic"/>
              </a:rPr>
              <a:t>⚠️ LLMに秘密情報を入力 — 情報漏洩リスクを事前に評価してから使う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29584"/>
            <a:ext cx="557784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84448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2200"/>
                </a:solidFill>
                <a:latin typeface="IPAGothic"/>
              </a:rPr>
              <a:t>⚠️ コード前の失敗シナリオ省略 — 3つの失敗シナリオ出力が必須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425696"/>
            <a:ext cx="557784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48056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2200"/>
                </a:solidFill>
                <a:latin typeface="IPAGothic"/>
              </a:rPr>
              <a:t>⚠️ Claude.ai WebでConsultingOS起動を期待 — エージェント起動はClaude Code専用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321808"/>
            <a:ext cx="5577840" cy="822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376672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2200"/>
                </a:solidFill>
                <a:latin typeface="IPAGothic"/>
              </a:rPr>
              <a:t>⚠️ 数値根拠・反証なしでハンドオフ — ERR-01/ERR-02で差し戻される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